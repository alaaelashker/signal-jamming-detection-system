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45720" cy="4297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</a:rPr>
              <a:t>DIGITAL SIGNAL PROCESSING  |  COURSE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F4F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Signal Jamming Detection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Analysis System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2450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B9CBF"/>
                </a:solidFill>
              </a:rPr>
              <a:t>SJDAS  —  v2.4.1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52928"/>
            <a:ext cx="7863840" cy="0"/>
          </a:xfrm>
          <a:prstGeom prst="line">
            <a:avLst/>
          </a:prstGeom>
          <a:noFill/>
          <a:ln w="12700">
            <a:solidFill>
              <a:srgbClr val="1E2D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443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9CBF"/>
                </a:solidFill>
              </a:rPr>
              <a:t>Submitted to: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60A"/>
                </a:solidFill>
              </a:rPr>
              <a:t>Eng. Shimaa Sherif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29443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00D4FF"/>
                </a:solidFill>
              </a:rPr>
              <a:t>GROUP  B1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547872"/>
            <a:ext cx="7863840" cy="347472"/>
          </a:xfrm>
          <a:prstGeom prst="rect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935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Student Name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52160" y="3593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Student ID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895344"/>
            <a:ext cx="7863840" cy="329184"/>
          </a:xfrm>
          <a:prstGeom prst="rect">
            <a:avLst/>
          </a:prstGeom>
          <a:solidFill>
            <a:srgbClr val="141C30"/>
          </a:solidFill>
          <a:ln w="6350">
            <a:solidFill>
              <a:srgbClr val="1E2D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895344"/>
            <a:ext cx="36576" cy="329184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94106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Alaa Ali Elashker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39410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2401569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24528"/>
            <a:ext cx="7863840" cy="329184"/>
          </a:xfrm>
          <a:prstGeom prst="rect">
            <a:avLst/>
          </a:prstGeom>
          <a:solidFill>
            <a:srgbClr val="0F1626"/>
          </a:solidFill>
          <a:ln w="6350">
            <a:solidFill>
              <a:srgbClr val="1E2D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224528"/>
            <a:ext cx="36576" cy="329184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27024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Jana Ahmed Elzamzamy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42702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2401507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553712"/>
            <a:ext cx="7863840" cy="329184"/>
          </a:xfrm>
          <a:prstGeom prst="rect">
            <a:avLst/>
          </a:prstGeom>
          <a:solidFill>
            <a:srgbClr val="141C30"/>
          </a:solidFill>
          <a:ln w="6350">
            <a:solidFill>
              <a:srgbClr val="1E2D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553712"/>
            <a:ext cx="36576" cy="329184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59943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Esraa Mohsen Samir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459943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2401532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882896"/>
            <a:ext cx="7863840" cy="329184"/>
          </a:xfrm>
          <a:prstGeom prst="rect">
            <a:avLst/>
          </a:prstGeom>
          <a:solidFill>
            <a:srgbClr val="0F1626"/>
          </a:solidFill>
          <a:ln w="6350">
            <a:solidFill>
              <a:srgbClr val="1E2D4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882896"/>
            <a:ext cx="36576" cy="329184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92861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Zahraa Reda Mohamed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52160" y="492861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2401422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2286000" cy="27432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F4FD"/>
                </a:solidFill>
              </a:rPr>
              <a:t>What is SJDAS?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1051560"/>
          </a:xfrm>
          <a:prstGeom prst="rect">
            <a:avLst/>
          </a:prstGeom>
          <a:solidFill>
            <a:srgbClr val="0F1626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07008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FF"/>
                </a:solidFill>
              </a:rPr>
              <a:t>SJDAS </a:t>
            </a:r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is a complete real-time system for </a:t>
            </a:r>
            <a:pPr indent="0" marL="0">
              <a:buNone/>
            </a:pPr>
            <a:r>
              <a:rPr lang="en-US" sz="1250" b="1" dirty="0">
                <a:solidFill>
                  <a:srgbClr val="FFD60A"/>
                </a:solidFill>
              </a:rPr>
              <a:t>detecting and analyzing radio signal jamming. </a:t>
            </a:r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It applies Digital Signal Processing (DSP) techniques to continuously monitor signal quality and trigger instant alerts when jamming is detected.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1965960" cy="2468880"/>
          </a:xfrm>
          <a:prstGeom prst="rect">
            <a:avLst/>
          </a:prstGeom>
          <a:solidFill>
            <a:srgbClr val="141C30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77440"/>
            <a:ext cx="45720" cy="2468880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871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98094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EFF"/>
                </a:solidFill>
              </a:rPr>
              <a:t>Signal Generation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9CBF"/>
                </a:solidFill>
              </a:rPr>
              <a:t>Pure configurable sine wave synthesis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14600" y="2377440"/>
            <a:ext cx="1965960" cy="2468880"/>
          </a:xfrm>
          <a:prstGeom prst="rect">
            <a:avLst/>
          </a:prstGeom>
          <a:solidFill>
            <a:srgbClr val="141C3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2377440"/>
            <a:ext cx="45720" cy="2468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4871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06040" y="298094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Jamming Simulation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3401568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9CBF"/>
                </a:solidFill>
              </a:rPr>
              <a:t>AWGN — Additive White Gaussian Noise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377440"/>
            <a:ext cx="1965960" cy="2468880"/>
          </a:xfrm>
          <a:prstGeom prst="rect">
            <a:avLst/>
          </a:prstGeom>
          <a:solidFill>
            <a:srgbClr val="141C3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377440"/>
            <a:ext cx="45720" cy="24688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4871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54880" y="298094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</a:rPr>
              <a:t>FFT Analysis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401568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9CBF"/>
                </a:solidFill>
              </a:rPr>
              <a:t>Fast Fourier Transform power spectrum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12280" y="2377440"/>
            <a:ext cx="1965960" cy="2468880"/>
          </a:xfrm>
          <a:prstGeom prst="rect">
            <a:avLst/>
          </a:prstGeom>
          <a:solidFill>
            <a:srgbClr val="141C30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2377440"/>
            <a:ext cx="45720" cy="2468880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24871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03720" y="298094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2D55"/>
                </a:solidFill>
              </a:rPr>
              <a:t>Auto Detection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3720" y="3401568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9CBF"/>
                </a:solidFill>
              </a:rPr>
              <a:t>SNR threshold with severity grading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2286000" cy="274320"/>
          </a:xfrm>
          <a:prstGeom prst="rect">
            <a:avLst/>
          </a:prstGeom>
          <a:solidFill>
            <a:srgbClr val="3A7EFF">
              <a:alpha val="20000"/>
            </a:srgbClr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E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F4FD"/>
                </a:solidFill>
              </a:rPr>
              <a:t>Project Architecture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777240"/>
          </a:xfrm>
          <a:prstGeom prst="rect">
            <a:avLst/>
          </a:prstGeom>
          <a:solidFill>
            <a:srgbClr val="0F1626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45720" cy="777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075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⚙️  main.py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1307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D"/>
                </a:solidFill>
              </a:rPr>
              <a:t>Application Entry Point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77840" y="13075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F"/>
                </a:solidFill>
              </a:rPr>
              <a:t>Window layout · Monitoring loop · Module coordination · Threading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80560" y="2011680"/>
            <a:ext cx="0" cy="137160"/>
          </a:xfrm>
          <a:prstGeom prst="line">
            <a:avLst/>
          </a:prstGeom>
          <a:noFill/>
          <a:ln w="19050">
            <a:solidFill>
              <a:srgbClr val="1E2D47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760" y="2148840"/>
            <a:ext cx="8412480" cy="777240"/>
          </a:xfrm>
          <a:prstGeom prst="rect">
            <a:avLst/>
          </a:prstGeom>
          <a:solidFill>
            <a:srgbClr val="0F1626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48840"/>
            <a:ext cx="45720" cy="7772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219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</a:rPr>
              <a:t>🧮  dsp_engine.py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221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D"/>
                </a:solidFill>
              </a:rPr>
              <a:t>Core DSP Pipeline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77840" y="2221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F"/>
                </a:solidFill>
              </a:rPr>
              <a:t>Signal generation · FFT · SNR calculation · Jamming detection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80560" y="2926080"/>
            <a:ext cx="0" cy="137160"/>
          </a:xfrm>
          <a:prstGeom prst="line">
            <a:avLst/>
          </a:prstGeom>
          <a:noFill/>
          <a:ln w="19050">
            <a:solidFill>
              <a:srgbClr val="1E2D47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65760" y="3063240"/>
            <a:ext cx="8412480" cy="777240"/>
          </a:xfrm>
          <a:prstGeom prst="rect">
            <a:avLst/>
          </a:prstGeom>
          <a:solidFill>
            <a:srgbClr val="0F1626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063240"/>
            <a:ext cx="45720" cy="777240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363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EFF"/>
                </a:solidFill>
              </a:rPr>
              <a:t>📈  visualizer.py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31363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D"/>
                </a:solidFill>
              </a:rPr>
              <a:t>Real-Time Plots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31363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F"/>
                </a:solidFill>
              </a:rPr>
              <a:t>Time domain &amp; frequency domain plots · Matplotlib + Blit rendering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80560" y="3840480"/>
            <a:ext cx="0" cy="137160"/>
          </a:xfrm>
          <a:prstGeom prst="line">
            <a:avLst/>
          </a:prstGeom>
          <a:noFill/>
          <a:ln w="19050">
            <a:solidFill>
              <a:srgbClr val="1E2D47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65760" y="3977640"/>
            <a:ext cx="8412480" cy="777240"/>
          </a:xfrm>
          <a:prstGeom prst="rect">
            <a:avLst/>
          </a:prstGeom>
          <a:solidFill>
            <a:srgbClr val="0F1626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977640"/>
            <a:ext cx="45720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0507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🖥️  ui_components.py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40507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D"/>
                </a:solidFill>
              </a:rPr>
              <a:t>UI Dashboard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0" y="40507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F"/>
                </a:solidFill>
              </a:rPr>
              <a:t>Control panel · Metrics display · Alert banners · CustomTkinter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A1520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6908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60A"/>
                </a:solidFill>
              </a:rPr>
              <a:t>⚡  Threading Model: DSP processing runs on a Background Thread — UI updates are scheduled on the Main Thread via .after() to ensure full interface responsiveness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2286000" cy="274320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88"/>
                </a:solidFill>
              </a:rPr>
              <a:t>DSP &amp; TELECOM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D"/>
                </a:solidFill>
              </a:rPr>
              <a:t>How DSP Serves Telecommunications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3566160"/>
          </a:xfrm>
          <a:prstGeom prst="rect">
            <a:avLst/>
          </a:prstGeom>
          <a:solidFill>
            <a:srgbClr val="0F1626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88"/>
                </a:solidFill>
              </a:rPr>
              <a:t>📡  Telecommunications Field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F8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Information is transmitted via radio waves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F8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Signals are corrupted by noise &amp; interference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6334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F8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Systems must constantly monitor signal quality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F8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SNR is the key metric for communication quality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5478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F8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FFT is used in every modern receiver station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0050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F8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Electronic jamming is a real threat (EW)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4023360" cy="3566160"/>
          </a:xfrm>
          <a:prstGeom prst="rect">
            <a:avLst/>
          </a:prstGeom>
          <a:solidFill>
            <a:srgbClr val="0F1626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2618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EFF"/>
                </a:solidFill>
              </a:rPr>
              <a:t>🧮  Digital Signal Processing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7190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EFF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Convert analog signals to digital (ADC)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21762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EFF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Apply mathematical algorithms to signals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6334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EFF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Analyze frequency spectrum with FFT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30906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EFF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Compute signal power and noise power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35478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EFF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Detect anomalous patterns automatically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40050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EFF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Process data in real time (low latency)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06240" y="2743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60A"/>
                </a:solidFill>
              </a:rPr>
              <a:t>⟺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882896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60A"/>
                </a:solidFill>
              </a:rPr>
              <a:t>✦  SJDAS bridges both fields: DSP algorithms are applied to solve a real telecommunications problem — detecting and preventing signal jamming.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2286000" cy="274320"/>
          </a:xfrm>
          <a:prstGeom prst="rect">
            <a:avLst/>
          </a:prstGeom>
          <a:solidFill>
            <a:srgbClr val="3A7EFF">
              <a:alpha val="20000"/>
            </a:srgbClr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EFF"/>
                </a:solidFill>
              </a:rPr>
              <a:t>DSP CONCEPT #1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D"/>
                </a:solidFill>
              </a:rPr>
              <a:t>Signal Generation &amp; Nyquist Theorem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658368"/>
          </a:xfrm>
          <a:prstGeom prst="rect">
            <a:avLst/>
          </a:prstGeom>
          <a:solidFill>
            <a:srgbClr val="060A14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x(t)  =  A · sin(2π · f · t)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2651760" cy="960120"/>
          </a:xfrm>
          <a:prstGeom prst="rect">
            <a:avLst/>
          </a:prstGeom>
          <a:solidFill>
            <a:srgbClr val="141C30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299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43000" y="20574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60A"/>
                </a:solidFill>
              </a:rPr>
              <a:t>Amplitude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" y="235915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CBF"/>
                </a:solidFill>
              </a:rPr>
              <a:t>Signal strength — range 0.1 to 5.0 V, adjustable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965960"/>
            <a:ext cx="2651760" cy="960120"/>
          </a:xfrm>
          <a:prstGeom prst="rect">
            <a:avLst/>
          </a:prstGeom>
          <a:solidFill>
            <a:srgbClr val="141C3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0299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977640" y="20574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</a:rPr>
              <a:t>Frequency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77640" y="235915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CBF"/>
                </a:solidFill>
              </a:rPr>
              <a:t>Carrier frequency — 10 to 500 Hz configurable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1965960"/>
            <a:ext cx="2651760" cy="960120"/>
          </a:xfrm>
          <a:prstGeom prst="rect">
            <a:avLst/>
          </a:prstGeom>
          <a:solidFill>
            <a:srgbClr val="141C30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0299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7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12280" y="20574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7EFF"/>
                </a:solidFill>
              </a:rPr>
              <a:t>Time Axis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2280" y="235915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CBF"/>
                </a:solidFill>
              </a:rPr>
              <a:t>1000 sample points over a 500 ms window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035808"/>
            <a:ext cx="8412480" cy="1353312"/>
          </a:xfrm>
          <a:prstGeom prst="rect">
            <a:avLst/>
          </a:prstGeom>
          <a:solidFill>
            <a:srgbClr val="0F1626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089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📐  Nyquist-Shannon Sampling Theorem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4747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  &gt;  2 × f_max      →      2000 Hz  &gt;  2 × 1000 Hz  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CBF"/>
                </a:solidFill>
              </a:rPr>
              <a:t>The sample rate (fs = 2000 Hz) must exceed twice the highest signal frequency to avoid Aliasing — a distortion artifact that corrupts the reconstructed signal.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462272"/>
            <a:ext cx="8412480" cy="5486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49884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Signal generation in dsp_engine.py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clean_signal = amp * np.sin(2 * np.pi * freq * time_axis)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2286000" cy="274320"/>
          </a:xfrm>
          <a:prstGeom prst="rect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</a:rPr>
              <a:t>DSP CONCEPT #2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</a:rPr>
              <a:t>Jamming Simulation — Additive White Gaussian Noise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658368"/>
          </a:xfrm>
          <a:prstGeom prst="rect">
            <a:avLst/>
          </a:prstGeom>
          <a:solidFill>
            <a:srgbClr val="060A1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y(t)  =  x(t)  +  η(t)          η ~ N(0, σ²)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114800" cy="2606040"/>
          </a:xfrm>
          <a:prstGeom prst="rect">
            <a:avLst/>
          </a:prstGeom>
          <a:solidFill>
            <a:srgbClr val="0F1626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What is AWGN?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Random distribution with zero mean (μ = 0)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8163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Models real-world electronic jamming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2095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Present in every real communication channel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6027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σ (std deviation) controls jamming intensity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9959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Higher σ → more noise → lower SNR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920240"/>
            <a:ext cx="4114800" cy="1143000"/>
          </a:xfrm>
          <a:prstGeom prst="rect">
            <a:avLst/>
          </a:prstGeom>
          <a:solidFill>
            <a:srgbClr val="0F1626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7EFF"/>
                </a:solidFill>
              </a:rPr>
              <a:t>🔵  Clean Signal (no jamming)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3042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x(t) = 1.0 · sin(2π · 100 · t)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CBF"/>
                </a:solidFill>
              </a:rPr>
              <a:t>Perfect sine waveform  |  SNR = ∞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3154680"/>
            <a:ext cx="4114800" cy="1371600"/>
          </a:xfrm>
          <a:prstGeom prst="rect">
            <a:avLst/>
          </a:prstGeom>
          <a:solidFill>
            <a:srgbClr val="0F1626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227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2D55"/>
                </a:solidFill>
              </a:rPr>
              <a:t>🔴  Jammed Signal (AWGN added)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3538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y(t) = x(t) + N(0, σ²)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CBF"/>
                </a:solidFill>
              </a:rPr>
              <a:t>Original signal buried under noise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4160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2D55"/>
                </a:solidFill>
              </a:rPr>
              <a:t>SNR drops below threshold → ALERT!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6451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noise = np.random.normal(loc=0.0, scale=noise_sigma, size=n_samples)    # AWGN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jammed_signal = clean_signal + noise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2286000" cy="274320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88"/>
                </a:solidFill>
              </a:rPr>
              <a:t>DSP CONCEPT #3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D"/>
                </a:solidFill>
              </a:rPr>
              <a:t>FFT Analysis — Fast Fourier Transform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594360"/>
          </a:xfrm>
          <a:prstGeom prst="rect">
            <a:avLst/>
          </a:prstGeom>
          <a:solidFill>
            <a:srgbClr val="060A14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X[k] = Σ x[n] · e^(−j·2π·k·n/N)          P[k] = |X[k]|² / 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651760" cy="2606040"/>
          </a:xfrm>
          <a:prstGeom prst="rect">
            <a:avLst/>
          </a:prstGeom>
          <a:solidFill>
            <a:srgbClr val="141C30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9339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7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4963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D"/>
                </a:solidFill>
              </a:rPr>
              <a:t>Time → Frequency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7EFF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7B9CBF"/>
                </a:solidFill>
              </a:rPr>
              <a:t>Take 1000 samples of the signal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31927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7EFF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7B9CBF"/>
                </a:solidFill>
              </a:rPr>
              <a:t>Apply rfft() to get frequency data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75818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7EFF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7B9CBF"/>
                </a:solidFill>
              </a:rPr>
              <a:t>Output: complex coefficients X[k]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920240"/>
            <a:ext cx="2651760" cy="2606040"/>
          </a:xfrm>
          <a:prstGeom prst="rect">
            <a:avLst/>
          </a:prstGeom>
          <a:solidFill>
            <a:srgbClr val="141C3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99339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91840" y="24963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D"/>
                </a:solidFill>
              </a:rPr>
              <a:t>Power Spectrum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8803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7B9CBF"/>
                </a:solidFill>
              </a:rPr>
              <a:t>P[k] = |X[k]|² / 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91840" y="331927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7B9CBF"/>
                </a:solidFill>
              </a:rPr>
              <a:t>Convert to dB: 10·log₁₀(P)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91840" y="375818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7B9CBF"/>
                </a:solidFill>
              </a:rPr>
              <a:t>Reveals dominant frequency in signal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1920240"/>
            <a:ext cx="2651760" cy="2606040"/>
          </a:xfrm>
          <a:prstGeom prst="rect">
            <a:avLst/>
          </a:prstGeom>
          <a:solidFill>
            <a:srgbClr val="141C30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99339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26480" y="24963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D"/>
                </a:solidFill>
              </a:rPr>
              <a:t>Peak Detection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28803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60A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7B9CBF"/>
                </a:solidFill>
              </a:rPr>
              <a:t>Find highest value in spectrum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26480" y="331927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60A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7B9CBF"/>
                </a:solidFill>
              </a:rPr>
              <a:t>Peak frequency = carrier frequency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26480" y="375818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60A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7B9CBF"/>
                </a:solidFill>
              </a:rPr>
              <a:t>Deviation reveals jamming presence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0F1626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</a:rPr>
              <a:t>💡  Why rfft() instead of fft()?  →  Real-valued signals have symmetric spectra — rfft() returns only N/2+1 positive frequencies, cutting computation by 50%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5102352"/>
            <a:ext cx="8412480" cy="384048"/>
          </a:xfrm>
          <a:prstGeom prst="rect">
            <a:avLst/>
          </a:prstGeom>
          <a:solidFill>
            <a:srgbClr val="060A14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1389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fft_jammed = np.fft.rfft(jammed_signal)   |   power = (np.abs(fft_jammed)**2) / n_samples   |   psd_db = 10*np.log10(power + 1e-12)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2286000" cy="274320"/>
          </a:xfrm>
          <a:prstGeom prst="rect">
            <a:avLst/>
          </a:prstGeom>
          <a:solidFill>
            <a:srgbClr val="FF2D55">
              <a:alpha val="20000"/>
            </a:srgbClr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2D55"/>
                </a:solidFill>
              </a:rPr>
              <a:t>DSP CONCEPT #4 &amp; #5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D"/>
                </a:solidFill>
              </a:rPr>
              <a:t>SNR Calculation &amp; Jamming Detection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023360" cy="658368"/>
          </a:xfrm>
          <a:prstGeom prst="rect">
            <a:avLst/>
          </a:prstGeom>
          <a:solidFill>
            <a:srgbClr val="060A14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SNR = 10 · log₁₀ (P_signal / P_noise)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0" y="1170432"/>
            <a:ext cx="4206240" cy="658368"/>
          </a:xfrm>
          <a:prstGeom prst="rect">
            <a:avLst/>
          </a:prstGeom>
          <a:solidFill>
            <a:srgbClr val="060A14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2344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2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SNR (dB)  &lt;  Threshold  →  JAMMING 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5029200" cy="292608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842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D"/>
                </a:solidFill>
              </a:rPr>
              <a:t>🎯  Severity Classification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423160"/>
            <a:ext cx="1188720" cy="329184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231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</a:rPr>
              <a:t>NONE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83080" y="242316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CBF"/>
                </a:solidFill>
              </a:rPr>
              <a:t>SNR ≥ Threshold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24231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No jamming — clean signal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880360"/>
            <a:ext cx="1188720" cy="329184"/>
          </a:xfrm>
          <a:prstGeom prst="rect">
            <a:avLst/>
          </a:prstGeom>
          <a:solidFill>
            <a:srgbClr val="FFD60A">
              <a:alpha val="80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803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60A"/>
                </a:solidFill>
              </a:rPr>
              <a:t>LOW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83080" y="288036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CBF"/>
                </a:solidFill>
              </a:rPr>
              <a:t>Deficit  &lt; 5 dB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28803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Mild jamming — signal still readable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337560"/>
            <a:ext cx="1188720" cy="329184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375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</a:rPr>
              <a:t>MEDIUM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83080" y="333756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CBF"/>
                </a:solidFill>
              </a:rPr>
              <a:t>5 – 15 dB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91840" y="33375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Moderate jamming — noticeable degradation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3794760"/>
            <a:ext cx="1188720" cy="329184"/>
          </a:xfrm>
          <a:prstGeom prst="rect">
            <a:avLst/>
          </a:prstGeom>
          <a:solidFill>
            <a:srgbClr val="FF2D55">
              <a:alpha val="80000"/>
            </a:srgbClr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947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2D55"/>
                </a:solidFill>
              </a:rPr>
              <a:t>HIGH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83080" y="379476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CBF"/>
                </a:solidFill>
              </a:rPr>
              <a:t>15 – 30 dB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0" y="37947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Severe jamming — reception difficult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4251960"/>
            <a:ext cx="1188720" cy="329184"/>
          </a:xfrm>
          <a:prstGeom prst="rect">
            <a:avLst/>
          </a:prstGeom>
          <a:solidFill>
            <a:srgbClr val="FF0088">
              <a:alpha val="80000"/>
            </a:srgbClr>
          </a:solidFill>
          <a:ln w="12700">
            <a:solidFill>
              <a:srgbClr val="FF00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2519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0088"/>
                </a:solidFill>
              </a:rPr>
              <a:t>CRITICAL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83080" y="425196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CBF"/>
                </a:solidFill>
              </a:rPr>
              <a:t>Deficit &gt; 30 dB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91840" y="42519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Total jamming — signal lost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77840" y="1920240"/>
            <a:ext cx="3200400" cy="2926080"/>
          </a:xfrm>
          <a:prstGeom prst="rect">
            <a:avLst/>
          </a:prstGeom>
          <a:solidFill>
            <a:srgbClr val="0F1626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19842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📊  Confidence Score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15000" y="23774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The system computes a % confidence score for every jamming detection decision: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15000" y="2971800"/>
            <a:ext cx="685800" cy="347472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297180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88"/>
                </a:solidFill>
              </a:rPr>
              <a:t>0%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92240" y="297180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Perfectly clean signal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15000" y="3520440"/>
            <a:ext cx="685800" cy="347472"/>
          </a:xfrm>
          <a:prstGeom prst="rect">
            <a:avLst/>
          </a:prstGeom>
          <a:solidFill>
            <a:srgbClr val="FFD60A">
              <a:alpha val="80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352044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60A"/>
                </a:solidFill>
              </a:rPr>
              <a:t>50%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92240" y="352044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Possible jamming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15000" y="4069080"/>
            <a:ext cx="685800" cy="347472"/>
          </a:xfrm>
          <a:prstGeom prst="rect">
            <a:avLst/>
          </a:prstGeom>
          <a:solidFill>
            <a:srgbClr val="FF2D55">
              <a:alpha val="80000"/>
            </a:srgbClr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406908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2D55"/>
                </a:solidFill>
              </a:rPr>
              <a:t>100%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92240" y="406908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Confirmed jamming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577840" y="4389120"/>
            <a:ext cx="3200400" cy="45720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15000" y="441655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CBF"/>
                </a:solidFill>
              </a:rPr>
              <a:t>📈 Exponential Moving Average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B9CBF"/>
                </a:solidFill>
              </a:rPr>
              <a:t>α=0.25 smoothing applied to SNR readings to reduce measurement noise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4919472"/>
            <a:ext cx="8412480" cy="41148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94690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signal_power = np.mean(clean_signal**2)   |   noise_power = np.mean(noise**2)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snr_db = 10 * np.log10(signal_power / max(noise_power, 1e-12))   # → jamming_detected = snr_db &lt; threshold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2286000" cy="27432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SYSTEM PIPELINE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D"/>
                </a:solidFill>
              </a:rPr>
              <a:t>Complete DSP Pipeline — Real-Time Flow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572768" cy="3108960"/>
          </a:xfrm>
          <a:prstGeom prst="rect">
            <a:avLst/>
          </a:prstGeom>
          <a:solidFill>
            <a:srgbClr val="141C30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70432"/>
            <a:ext cx="1572768" cy="54864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7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38912" y="181051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F4FD"/>
                </a:solidFill>
              </a:rPr>
              <a:t>Signal Generation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22860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CBF"/>
                </a:solidFill>
              </a:rPr>
              <a:t>Sine wave synthesis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" y="2852928"/>
            <a:ext cx="1426464" cy="457200"/>
          </a:xfrm>
          <a:prstGeom prst="rect">
            <a:avLst/>
          </a:prstGeom>
          <a:solidFill>
            <a:srgbClr val="060A14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71216"/>
            <a:ext cx="1389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7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x(t) = A·sin(2πft)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938528" y="233172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D47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66544" y="1170432"/>
            <a:ext cx="1572768" cy="3108960"/>
          </a:xfrm>
          <a:prstGeom prst="rect">
            <a:avLst/>
          </a:prstGeom>
          <a:solidFill>
            <a:srgbClr val="141C3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66544" y="1170432"/>
            <a:ext cx="1572768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57984" y="12618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139696" y="181051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F4FD"/>
                </a:solidFill>
              </a:rPr>
              <a:t>AWGN Injection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39696" y="22860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CBF"/>
                </a:solidFill>
              </a:rPr>
              <a:t>Add Gaussian noise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39696" y="2852928"/>
            <a:ext cx="1426464" cy="457200"/>
          </a:xfrm>
          <a:prstGeom prst="rect">
            <a:avLst/>
          </a:prstGeom>
          <a:solidFill>
            <a:srgbClr val="060A1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57984" y="2871216"/>
            <a:ext cx="1389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y(t) = x(t) + N(0,σ²)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639312" y="233172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D47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767328" y="1170432"/>
            <a:ext cx="1572768" cy="3108960"/>
          </a:xfrm>
          <a:prstGeom prst="rect">
            <a:avLst/>
          </a:prstGeom>
          <a:solidFill>
            <a:srgbClr val="141C3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67328" y="1170432"/>
            <a:ext cx="1572768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58768" y="12618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3840480" y="181051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F4FD"/>
                </a:solidFill>
              </a:rPr>
              <a:t>FFT Transform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40480" y="22860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CBF"/>
                </a:solidFill>
              </a:rPr>
              <a:t>Frequency analysis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0" y="2852928"/>
            <a:ext cx="1426464" cy="457200"/>
          </a:xfrm>
          <a:prstGeom prst="rect">
            <a:avLst/>
          </a:prstGeom>
          <a:solidFill>
            <a:srgbClr val="060A14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58768" y="2871216"/>
            <a:ext cx="1389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X[k] = FFT(y[n])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340096" y="233172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D47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68112" y="1170432"/>
            <a:ext cx="1572768" cy="3108960"/>
          </a:xfrm>
          <a:prstGeom prst="rect">
            <a:avLst/>
          </a:prstGeom>
          <a:solidFill>
            <a:srgbClr val="141C30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68112" y="1170432"/>
            <a:ext cx="1572768" cy="54864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9552" y="12618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5541264" y="181051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F4FD"/>
                </a:solidFill>
              </a:rPr>
              <a:t>SNR Calculation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41264" y="22860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CBF"/>
                </a:solidFill>
              </a:rPr>
              <a:t>Signal-to-noise ratio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41264" y="2852928"/>
            <a:ext cx="1426464" cy="457200"/>
          </a:xfrm>
          <a:prstGeom prst="rect">
            <a:avLst/>
          </a:prstGeom>
          <a:solidFill>
            <a:srgbClr val="060A14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59552" y="2871216"/>
            <a:ext cx="1389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SNR = 10·log₁₀(Ps/Pn)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040880" y="233172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D47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168896" y="1170432"/>
            <a:ext cx="1572768" cy="3108960"/>
          </a:xfrm>
          <a:prstGeom prst="rect">
            <a:avLst/>
          </a:prstGeom>
          <a:solidFill>
            <a:srgbClr val="141C30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68896" y="1170432"/>
            <a:ext cx="1572768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60336" y="12618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2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7242048" y="181051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F4FD"/>
                </a:solidFill>
              </a:rPr>
              <a:t>Detection &amp; Alert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242048" y="22860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CBF"/>
                </a:solidFill>
              </a:rPr>
              <a:t>Threshold comparison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42048" y="2852928"/>
            <a:ext cx="1426464" cy="457200"/>
          </a:xfrm>
          <a:prstGeom prst="rect">
            <a:avLst/>
          </a:prstGeom>
          <a:solidFill>
            <a:srgbClr val="060A14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60336" y="2871216"/>
            <a:ext cx="1389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2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SNR &lt; threshold → ALERT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65760" y="4407408"/>
            <a:ext cx="4023360" cy="621792"/>
          </a:xfrm>
          <a:prstGeom prst="rect">
            <a:avLst/>
          </a:prstGeom>
          <a:solidFill>
            <a:srgbClr val="0F1626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4622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⏱️  Update Rate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" y="4736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CBF"/>
                </a:solidFill>
              </a:rPr>
              <a:t>80 ms / frame  =  ~12.5 FPS  →  Smooth real-time display without CPU overload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0" y="4407408"/>
            <a:ext cx="4206240" cy="621792"/>
          </a:xfrm>
          <a:prstGeom prst="rect">
            <a:avLst/>
          </a:prstGeom>
          <a:solidFill>
            <a:srgbClr val="0F1626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44622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60A"/>
                </a:solidFill>
              </a:rPr>
              <a:t>🔀  Threading Model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54880" y="47365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CBF"/>
                </a:solidFill>
              </a:rPr>
              <a:t>DSP Thread (Background)  +  UI Thread (Main)  →  Full interface responsiveness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29000" y="137160"/>
            <a:ext cx="2286000" cy="27432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29000" y="137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CONCLUSION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4FD"/>
                </a:solidFill>
              </a:rPr>
              <a:t>What Did This Project Achieve?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023360" cy="1389888"/>
          </a:xfrm>
          <a:prstGeom prst="rect">
            <a:avLst/>
          </a:prstGeom>
          <a:solidFill>
            <a:srgbClr val="0F1626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25880"/>
            <a:ext cx="45720" cy="1389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356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🎓  Practical DSP Application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856232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Translated FFT, SNR, and noise theory from textbooks into working, real-time Python code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4023360" cy="1389888"/>
          </a:xfrm>
          <a:prstGeom prst="rect">
            <a:avLst/>
          </a:prstGeom>
          <a:solidFill>
            <a:srgbClr val="0F1626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325880"/>
            <a:ext cx="45720" cy="138988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4356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</a:rPr>
              <a:t>📡  Connecting Field to Problem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856232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Simulated a real telecom challenge — electronic jamming — and built a system to detect 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4023360" cy="1389888"/>
          </a:xfrm>
          <a:prstGeom prst="rect">
            <a:avLst/>
          </a:prstGeom>
          <a:solidFill>
            <a:srgbClr val="0F1626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98648"/>
            <a:ext cx="45720" cy="1389888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083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60A"/>
                </a:solidFill>
              </a:rPr>
              <a:t>⚡  Real-Time System Design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42900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Achieved 12.5 FPS processing with multi-threading and matplotlib blit for optimized performance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898648"/>
            <a:ext cx="4023360" cy="1389888"/>
          </a:xfrm>
          <a:prstGeom prst="rect">
            <a:avLst/>
          </a:prstGeom>
          <a:solidFill>
            <a:srgbClr val="0F1626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898648"/>
            <a:ext cx="45720" cy="13898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0083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🏗️  Sound Software Engineering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42900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Modular 4-file architecture: each component is independent, testable, and extensible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526280"/>
            <a:ext cx="8412480" cy="475488"/>
          </a:xfrm>
          <a:prstGeom prst="rect">
            <a:avLst/>
          </a:prstGeom>
          <a:solidFill>
            <a:srgbClr val="060A14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57200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SJDAS </a:t>
            </a:r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proves that DSP is more than theory — it is a </a:t>
            </a:r>
            <a:pPr indent="0" marL="0">
              <a:buNone/>
            </a:pPr>
            <a:r>
              <a:rPr lang="en-US" sz="1100" b="1" dirty="0">
                <a:solidFill>
                  <a:srgbClr val="FFD60A"/>
                </a:solidFill>
              </a:rPr>
              <a:t>powerful engine for building intelligent communication systems </a:t>
            </a:r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capable of real-time detection and response to electronic jamming in real-world environments.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SJDAS - Signal Jamming Detection &amp; Analysis System</dc:title>
  <dc:subject>PptxGenJS Presentation</dc:subject>
  <dc:creator>PptxGenJS</dc:creator>
  <cp:lastModifiedBy>PptxGenJS</cp:lastModifiedBy>
  <cp:revision>1</cp:revision>
  <dcterms:created xsi:type="dcterms:W3CDTF">2026-05-03T13:38:29Z</dcterms:created>
  <dcterms:modified xsi:type="dcterms:W3CDTF">2026-05-03T13:38:29Z</dcterms:modified>
</cp:coreProperties>
</file>